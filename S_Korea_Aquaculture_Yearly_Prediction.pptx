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52"/>
  </p:normalViewPr>
  <p:slideViewPr>
    <p:cSldViewPr snapToGrid="0" snapToObjects="1">
      <p:cViewPr varScale="1">
        <p:scale>
          <a:sx n="90" d="100"/>
          <a:sy n="90" d="100"/>
        </p:scale>
        <p:origin x="23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1/20/23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1/20/23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amikang/s-korea-aquaculture-time-series-prediction" TargetMode="External"/><Relationship Id="rId2" Type="http://schemas.openxmlformats.org/officeDocument/2006/relationships/hyperlink" Target="https://www.kaggle.com/datasets/sergegeukjian/fish-and-overfish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1DD9A-C094-C84E-8E2E-C7409F820C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series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89789-63BA-BC47-B3F2-75C68F0886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SOUTH KOREA AQUACULTURE YEARLY PRODUCTION</a:t>
            </a:r>
          </a:p>
        </p:txBody>
      </p:sp>
    </p:spTree>
    <p:extLst>
      <p:ext uri="{BB962C8B-B14F-4D97-AF65-F5344CB8AC3E}">
        <p14:creationId xmlns:p14="http://schemas.microsoft.com/office/powerpoint/2010/main" val="2855954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5902-CED1-5D43-861B-D1F627CE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11" y="547079"/>
            <a:ext cx="4558338" cy="1596177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STUDY FRAMEWORK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0B130-E948-3B4E-95E3-964C6F92B2C8}"/>
              </a:ext>
            </a:extLst>
          </p:cNvPr>
          <p:cNvSpPr txBox="1"/>
          <p:nvPr/>
        </p:nvSpPr>
        <p:spPr>
          <a:xfrm>
            <a:off x="2273911" y="1971806"/>
            <a:ext cx="8344207" cy="34163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Clean the data and observe a trend over time</a:t>
            </a:r>
          </a:p>
          <a:p>
            <a:pPr marL="342900" indent="-342900">
              <a:buAutoNum type="arabicPeriod"/>
            </a:pPr>
            <a:r>
              <a:rPr lang="en-US" sz="2400" dirty="0"/>
              <a:t>Decompose the time series observations</a:t>
            </a:r>
          </a:p>
          <a:p>
            <a:pPr marL="342900" indent="-342900">
              <a:buAutoNum type="arabicPeriod"/>
            </a:pPr>
            <a:r>
              <a:rPr lang="en-US" sz="2400" dirty="0"/>
              <a:t>Split the data into the training and test periods</a:t>
            </a:r>
          </a:p>
          <a:p>
            <a:pPr marL="342900" indent="-342900">
              <a:buAutoNum type="arabicPeriod"/>
            </a:pPr>
            <a:r>
              <a:rPr lang="en-US" sz="2400" dirty="0"/>
              <a:t>Check the stationarity of the training data </a:t>
            </a:r>
          </a:p>
          <a:p>
            <a:pPr marL="342900" indent="-342900">
              <a:buAutoNum type="arabicPeriod"/>
            </a:pPr>
            <a:r>
              <a:rPr lang="en-US" sz="2400" dirty="0"/>
              <a:t>Run ACF and PACF to decide inputs for AR and MA</a:t>
            </a:r>
          </a:p>
          <a:p>
            <a:pPr marL="342900" indent="-342900">
              <a:buAutoNum type="arabicPeriod"/>
            </a:pPr>
            <a:r>
              <a:rPr lang="en-US" sz="2400" dirty="0"/>
              <a:t>Build ARIMA models</a:t>
            </a:r>
          </a:p>
          <a:p>
            <a:pPr marL="342900" indent="-342900">
              <a:buAutoNum type="arabicPeriod"/>
            </a:pPr>
            <a:r>
              <a:rPr lang="en-US" sz="2400" dirty="0"/>
              <a:t>Build a rolling forecast model </a:t>
            </a:r>
          </a:p>
          <a:p>
            <a:pPr marL="342900" indent="-342900">
              <a:buAutoNum type="arabicPeriod"/>
            </a:pPr>
            <a:r>
              <a:rPr lang="en-US" sz="2400" dirty="0"/>
              <a:t>Forecast the fish production over the test period</a:t>
            </a:r>
          </a:p>
          <a:p>
            <a:pPr marL="342900" indent="-342900">
              <a:buAutoNum type="arabicPeriod"/>
            </a:pPr>
            <a:r>
              <a:rPr lang="en-US" sz="2400" dirty="0"/>
              <a:t>Compare the forecasts from the models and actual observations</a:t>
            </a:r>
          </a:p>
        </p:txBody>
      </p:sp>
    </p:spTree>
    <p:extLst>
      <p:ext uri="{BB962C8B-B14F-4D97-AF65-F5344CB8AC3E}">
        <p14:creationId xmlns:p14="http://schemas.microsoft.com/office/powerpoint/2010/main" val="220146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92178-CA71-0B43-86EB-868105F61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640" y="365129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dirty="0"/>
              <a:t>S. Korea yearly aquaculture production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5C0EB6-B585-E74A-AA4C-B121D3230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765" y="1554680"/>
            <a:ext cx="9728200" cy="509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38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A4C8-C2B6-0745-99AD-A8B40AA68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447067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dirty="0"/>
              <a:t>Training(1960-2011) and test (2012-2019) periods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266FF9-E9F6-9441-A5C1-5210BEDC9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88" y="1819274"/>
            <a:ext cx="10173938" cy="433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61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275F-A3A3-2746-8552-B1ABEB57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915293"/>
            <a:ext cx="10364451" cy="727770"/>
          </a:xfrm>
        </p:spPr>
        <p:txBody>
          <a:bodyPr anchor="t">
            <a:normAutofit/>
          </a:bodyPr>
          <a:lstStyle/>
          <a:p>
            <a:pPr algn="l"/>
            <a:r>
              <a:rPr lang="en-US" sz="3200" dirty="0"/>
              <a:t>Stationarity test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D8A31-3BCF-2640-A1A9-45E5A7513686}"/>
              </a:ext>
            </a:extLst>
          </p:cNvPr>
          <p:cNvSpPr txBox="1"/>
          <p:nvPr/>
        </p:nvSpPr>
        <p:spPr>
          <a:xfrm>
            <a:off x="913775" y="1382626"/>
            <a:ext cx="9844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one time difference operation, the Augmented Dickey-Fuller Test is passed. Using this information as the value of </a:t>
            </a:r>
            <a:r>
              <a:rPr lang="en-US" i="1" dirty="0"/>
              <a:t>d</a:t>
            </a:r>
            <a:r>
              <a:rPr lang="en-US" dirty="0"/>
              <a:t> in ARIMA model.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D20F7C-F989-764A-8DA3-2F5C1BFF4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19" y="3117850"/>
            <a:ext cx="5130800" cy="34798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4E835D5-C452-6145-83F4-C67BD5463166}"/>
              </a:ext>
            </a:extLst>
          </p:cNvPr>
          <p:cNvSpPr txBox="1">
            <a:spLocks/>
          </p:cNvSpPr>
          <p:nvPr/>
        </p:nvSpPr>
        <p:spPr>
          <a:xfrm>
            <a:off x="913774" y="2471519"/>
            <a:ext cx="2415213" cy="103222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ACF Test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DCD785-8534-5446-9BA4-FAECCD16B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238" y="3117850"/>
            <a:ext cx="5130800" cy="34798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97D0957-27A8-2843-91F4-E4F7DCC75755}"/>
              </a:ext>
            </a:extLst>
          </p:cNvPr>
          <p:cNvSpPr txBox="1">
            <a:spLocks/>
          </p:cNvSpPr>
          <p:nvPr/>
        </p:nvSpPr>
        <p:spPr>
          <a:xfrm>
            <a:off x="6345238" y="2498289"/>
            <a:ext cx="2584450" cy="147363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/>
              <a:t>PACF Test</a:t>
            </a:r>
          </a:p>
        </p:txBody>
      </p:sp>
    </p:spTree>
    <p:extLst>
      <p:ext uri="{BB962C8B-B14F-4D97-AF65-F5344CB8AC3E}">
        <p14:creationId xmlns:p14="http://schemas.microsoft.com/office/powerpoint/2010/main" val="1258366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7CB40-96FA-B348-BBC1-869A39AC0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Build time series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E2A77-BE95-1244-B026-77A859312ED3}"/>
              </a:ext>
            </a:extLst>
          </p:cNvPr>
          <p:cNvSpPr txBox="1"/>
          <p:nvPr/>
        </p:nvSpPr>
        <p:spPr>
          <a:xfrm>
            <a:off x="3467043" y="2214694"/>
            <a:ext cx="52579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dirty="0"/>
              <a:t>ARIMA(0 1 0)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dirty="0"/>
              <a:t>ARIMA(6 1 0)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dirty="0"/>
              <a:t>ARIMA(15 1 0)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2800" dirty="0"/>
              <a:t>Rolling forecasting original model</a:t>
            </a:r>
          </a:p>
        </p:txBody>
      </p:sp>
    </p:spTree>
    <p:extLst>
      <p:ext uri="{BB962C8B-B14F-4D97-AF65-F5344CB8AC3E}">
        <p14:creationId xmlns:p14="http://schemas.microsoft.com/office/powerpoint/2010/main" val="1704418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EF0D5-74B4-CE45-9962-67A9E2FFF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475642"/>
            <a:ext cx="10364451" cy="595921"/>
          </a:xfrm>
        </p:spPr>
        <p:txBody>
          <a:bodyPr anchor="t">
            <a:normAutofit/>
          </a:bodyPr>
          <a:lstStyle/>
          <a:p>
            <a:r>
              <a:rPr lang="en-US" sz="3200" dirty="0"/>
              <a:t>Model performances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627CB9-BFC8-1640-B2CA-3244B237B7CB}"/>
              </a:ext>
            </a:extLst>
          </p:cNvPr>
          <p:cNvSpPr txBox="1"/>
          <p:nvPr/>
        </p:nvSpPr>
        <p:spPr>
          <a:xfrm>
            <a:off x="1585912" y="1057276"/>
            <a:ext cx="9753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Finding: With this data, the rolling origin forecasting based on ARIMA performs better than ARIMA itself.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674156-8B9B-0846-8783-589978A2F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6" y="1426608"/>
            <a:ext cx="9629384" cy="502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2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1F05-7A86-6B4B-9C9E-93CFA5D54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063" y="162773"/>
            <a:ext cx="10364451" cy="1596177"/>
          </a:xfrm>
        </p:spPr>
        <p:txBody>
          <a:bodyPr>
            <a:normAutofit/>
          </a:bodyPr>
          <a:lstStyle/>
          <a:p>
            <a:r>
              <a:rPr lang="en-US" sz="3200" dirty="0"/>
              <a:t>Rolling origin forecasting comparison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B4B55-C009-7543-8C23-B49AA0FD7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188" y="1339849"/>
            <a:ext cx="9858598" cy="516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65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76D4CF-146D-CB40-A6A7-E3F45EFB0AD3}"/>
              </a:ext>
            </a:extLst>
          </p:cNvPr>
          <p:cNvSpPr txBox="1"/>
          <p:nvPr/>
        </p:nvSpPr>
        <p:spPr>
          <a:xfrm>
            <a:off x="1257300" y="1785938"/>
            <a:ext cx="79120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Source: from Kaggle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www.kaggle.com</a:t>
            </a:r>
            <a:r>
              <a:rPr lang="en-US" dirty="0">
                <a:hlinkClick r:id="rId2"/>
              </a:rPr>
              <a:t>/datasets/</a:t>
            </a:r>
            <a:r>
              <a:rPr lang="en-US" dirty="0" err="1">
                <a:hlinkClick r:id="rId2"/>
              </a:rPr>
              <a:t>sergegeukjian</a:t>
            </a:r>
            <a:r>
              <a:rPr lang="en-US" dirty="0">
                <a:hlinkClick r:id="rId2"/>
              </a:rPr>
              <a:t>/fish-and-overfishing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Python Code:</a:t>
            </a:r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www.kaggle.com</a:t>
            </a:r>
            <a:r>
              <a:rPr lang="en-US" dirty="0">
                <a:hlinkClick r:id="rId3"/>
              </a:rPr>
              <a:t>/code/</a:t>
            </a:r>
            <a:r>
              <a:rPr lang="en-US" dirty="0" err="1">
                <a:hlinkClick r:id="rId3"/>
              </a:rPr>
              <a:t>amikang</a:t>
            </a:r>
            <a:r>
              <a:rPr lang="en-US" dirty="0">
                <a:hlinkClick r:id="rId3"/>
              </a:rPr>
              <a:t>/s-</a:t>
            </a:r>
            <a:r>
              <a:rPr lang="en-US" dirty="0" err="1">
                <a:hlinkClick r:id="rId3"/>
              </a:rPr>
              <a:t>korea</a:t>
            </a:r>
            <a:r>
              <a:rPr lang="en-US" dirty="0">
                <a:hlinkClick r:id="rId3"/>
              </a:rPr>
              <a:t>-aquaculture-time-series-prediction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800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110</TotalTime>
  <Words>209</Words>
  <Application>Microsoft Macintosh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Droplet</vt:lpstr>
      <vt:lpstr>Time series application</vt:lpstr>
      <vt:lpstr>STUDY FRAMEWORK</vt:lpstr>
      <vt:lpstr>S. Korea yearly aquaculture production</vt:lpstr>
      <vt:lpstr>Training(1960-2011) and test (2012-2019) periods</vt:lpstr>
      <vt:lpstr>Stationarity test </vt:lpstr>
      <vt:lpstr>Build time series models</vt:lpstr>
      <vt:lpstr>Model performances comparison</vt:lpstr>
      <vt:lpstr>Rolling origin forecasting comparison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application</dc:title>
  <dc:creator>Microsoft Office User</dc:creator>
  <cp:lastModifiedBy>Microsoft Office User</cp:lastModifiedBy>
  <cp:revision>11</cp:revision>
  <cp:lastPrinted>2023-01-21T04:04:57Z</cp:lastPrinted>
  <dcterms:created xsi:type="dcterms:W3CDTF">2023-01-21T02:14:12Z</dcterms:created>
  <dcterms:modified xsi:type="dcterms:W3CDTF">2023-01-21T04:05:05Z</dcterms:modified>
</cp:coreProperties>
</file>